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0"/>
            <a:ext cx="1188720" cy="1188720"/>
          </a:xfrm>
          <a:prstGeom prst="rect">
            <a:avLst/>
          </a:prstGeom>
          <a:solidFill>
            <a:srgbClr val="2563EB">
              <a:alpha val="35000"/>
            </a:srgbClr>
          </a:solidFill>
          <a:ln w="12700">
            <a:solidFill>
              <a:srgbClr val="2563EB">
                <a:alpha val="3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4023360"/>
            <a:ext cx="640080" cy="640080"/>
          </a:xfrm>
          <a:prstGeom prst="rect">
            <a:avLst/>
          </a:prstGeom>
          <a:solidFill>
            <a:srgbClr val="14B8A6">
              <a:alpha val="40000"/>
            </a:srgbClr>
          </a:solidFill>
          <a:ln w="1270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480560"/>
            <a:ext cx="640080" cy="640080"/>
          </a:xfrm>
          <a:prstGeom prst="rect">
            <a:avLst/>
          </a:prstGeom>
          <a:solidFill>
            <a:srgbClr val="F59E0B">
              <a:alpha val="30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HARMONYOS · 全栈毕业设计答辩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5544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ZhiXu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0292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本地优先 · 可云同步的鸿蒙专注效率应用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3246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ArkTS / ArkUI</a:t>
            </a:r>
            <a:pPr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端侧 RDB / Preferences</a:t>
            </a:r>
            <a:pPr indent="0" marL="0">
              <a:buNone/>
            </a:pPr>
            <a:r>
              <a:rPr lang="en-US" sz="130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·   </a:t>
            </a:r>
            <a:pPr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Spring Boot + MyBatis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3977640"/>
            <a:ext cx="411480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4160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答辩人：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柯云超 (k yc)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    包名：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com.nankai.zhixu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090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" y="1481328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371600" y="154533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6698" y="1640434"/>
            <a:ext cx="175565" cy="17556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874520" y="1371600"/>
            <a:ext cx="2400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732020" y="1371600"/>
            <a:ext cx="39090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896612" y="1481328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Shape 9"/>
          <p:cNvSpPr/>
          <p:nvPr/>
        </p:nvSpPr>
        <p:spPr>
          <a:xfrm>
            <a:off x="5600700" y="1545336"/>
            <a:ext cx="365760" cy="36576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5798" y="1640434"/>
            <a:ext cx="175565" cy="17556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103620" y="1371600"/>
            <a:ext cx="2400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现状分析与技术选型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02920" y="2212848"/>
            <a:ext cx="39090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667512" y="2322576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Shape 13"/>
          <p:cNvSpPr/>
          <p:nvPr/>
        </p:nvSpPr>
        <p:spPr>
          <a:xfrm>
            <a:off x="1371600" y="2386584"/>
            <a:ext cx="365760" cy="365760"/>
          </a:xfrm>
          <a:prstGeom prst="ellipse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698" y="2481682"/>
            <a:ext cx="175565" cy="17556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874520" y="2212848"/>
            <a:ext cx="2400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系统架构与 MVVM 分层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4732020" y="2212848"/>
            <a:ext cx="39090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4896612" y="2322576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000" dirty="0"/>
          </a:p>
        </p:txBody>
      </p:sp>
      <p:sp>
        <p:nvSpPr>
          <p:cNvPr id="22" name="Shape 17"/>
          <p:cNvSpPr/>
          <p:nvPr/>
        </p:nvSpPr>
        <p:spPr>
          <a:xfrm>
            <a:off x="5600700" y="2386584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5798" y="2481682"/>
            <a:ext cx="175565" cy="175565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103620" y="2212848"/>
            <a:ext cx="2400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功能模块与界面演示</a:t>
            </a:r>
            <a:endParaRPr lang="en-US" sz="1500" dirty="0"/>
          </a:p>
        </p:txBody>
      </p:sp>
      <p:sp>
        <p:nvSpPr>
          <p:cNvPr id="25" name="Shape 19"/>
          <p:cNvSpPr/>
          <p:nvPr/>
        </p:nvSpPr>
        <p:spPr>
          <a:xfrm>
            <a:off x="502920" y="3054096"/>
            <a:ext cx="39090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6" name="Text 20"/>
          <p:cNvSpPr/>
          <p:nvPr/>
        </p:nvSpPr>
        <p:spPr>
          <a:xfrm>
            <a:off x="667512" y="3163824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3000" dirty="0"/>
          </a:p>
        </p:txBody>
      </p:sp>
      <p:sp>
        <p:nvSpPr>
          <p:cNvPr id="27" name="Shape 21"/>
          <p:cNvSpPr/>
          <p:nvPr/>
        </p:nvSpPr>
        <p:spPr>
          <a:xfrm>
            <a:off x="1371600" y="3227832"/>
            <a:ext cx="365760" cy="36576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6698" y="3322930"/>
            <a:ext cx="175565" cy="175565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874520" y="3054096"/>
            <a:ext cx="2400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</a:t>
            </a:r>
            <a:endParaRPr lang="en-US" sz="1500" dirty="0"/>
          </a:p>
        </p:txBody>
      </p:sp>
      <p:sp>
        <p:nvSpPr>
          <p:cNvPr id="30" name="Shape 23"/>
          <p:cNvSpPr/>
          <p:nvPr/>
        </p:nvSpPr>
        <p:spPr>
          <a:xfrm>
            <a:off x="4732020" y="3054096"/>
            <a:ext cx="39090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31" name="Text 24"/>
          <p:cNvSpPr/>
          <p:nvPr/>
        </p:nvSpPr>
        <p:spPr>
          <a:xfrm>
            <a:off x="4896612" y="3163824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3000" dirty="0"/>
          </a:p>
        </p:txBody>
      </p:sp>
      <p:sp>
        <p:nvSpPr>
          <p:cNvPr id="32" name="Shape 25"/>
          <p:cNvSpPr/>
          <p:nvPr/>
        </p:nvSpPr>
        <p:spPr>
          <a:xfrm>
            <a:off x="5600700" y="3227832"/>
            <a:ext cx="365760" cy="36576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5798" y="3322930"/>
            <a:ext cx="175565" cy="17556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103620" y="3054096"/>
            <a:ext cx="2400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四大核心技术亮点</a:t>
            </a:r>
            <a:endParaRPr lang="en-US" sz="1500" dirty="0"/>
          </a:p>
        </p:txBody>
      </p:sp>
      <p:sp>
        <p:nvSpPr>
          <p:cNvPr id="35" name="Shape 27"/>
          <p:cNvSpPr/>
          <p:nvPr/>
        </p:nvSpPr>
        <p:spPr>
          <a:xfrm>
            <a:off x="502920" y="3895344"/>
            <a:ext cx="39090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36" name="Text 28"/>
          <p:cNvSpPr/>
          <p:nvPr/>
        </p:nvSpPr>
        <p:spPr>
          <a:xfrm>
            <a:off x="667512" y="4005072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3000" dirty="0"/>
          </a:p>
        </p:txBody>
      </p:sp>
      <p:sp>
        <p:nvSpPr>
          <p:cNvPr id="37" name="Shape 29"/>
          <p:cNvSpPr/>
          <p:nvPr/>
        </p:nvSpPr>
        <p:spPr>
          <a:xfrm>
            <a:off x="1371600" y="4069080"/>
            <a:ext cx="365760" cy="365760"/>
          </a:xfrm>
          <a:prstGeom prst="ellipse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6698" y="4164178"/>
            <a:ext cx="175565" cy="175565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874520" y="3895344"/>
            <a:ext cx="2400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课程知识点对照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4732020" y="3895344"/>
            <a:ext cx="39090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41" name="Text 32"/>
          <p:cNvSpPr/>
          <p:nvPr/>
        </p:nvSpPr>
        <p:spPr>
          <a:xfrm>
            <a:off x="4896612" y="4005072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3000" dirty="0"/>
          </a:p>
        </p:txBody>
      </p:sp>
      <p:sp>
        <p:nvSpPr>
          <p:cNvPr id="42" name="Shape 33"/>
          <p:cNvSpPr/>
          <p:nvPr/>
        </p:nvSpPr>
        <p:spPr>
          <a:xfrm>
            <a:off x="5600700" y="4069080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95798" y="4164178"/>
            <a:ext cx="175565" cy="175565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6103620" y="3895344"/>
            <a:ext cx="24003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1500" dirty="0"/>
          </a:p>
        </p:txBody>
      </p:sp>
      <p:sp>
        <p:nvSpPr>
          <p:cNvPr id="45" name="Text 35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BACKGROUND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选题背景与意义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学生与知识工作者普遍面临三大痛点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2499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737360"/>
            <a:ext cx="2499360" cy="914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993392"/>
            <a:ext cx="204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专注难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514600"/>
            <a:ext cx="204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注意力易被打断，缺少沉浸式专注的工具支撑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22320" y="1737360"/>
            <a:ext cx="2499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22320" y="1737360"/>
            <a:ext cx="2499360" cy="91440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50920" y="1993392"/>
            <a:ext cx="204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任务散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550920" y="2514600"/>
            <a:ext cx="204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待办散落在多个 App，缺乏统一规划与归类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41720" y="1737360"/>
            <a:ext cx="2499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41720" y="1737360"/>
            <a:ext cx="249936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0320" y="1993392"/>
            <a:ext cx="204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缺复盘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370320" y="2514600"/>
            <a:ext cx="204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专注之后没有数据反馈，难以持续改进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02920" y="3520440"/>
            <a:ext cx="8138160" cy="10058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822192"/>
            <a:ext cx="411480" cy="4114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4225" y="3929177"/>
            <a:ext cx="197510" cy="19751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71600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研究意义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371600" y="3950208"/>
            <a:ext cx="6995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知序把「任务规划 → 番茄专注 → 白噪音 → 复盘统计」整合进一个鸿蒙原生 App，并支持云同步，帮用户形成「规划→专注→复盘」的完整闭环。面向真实学习场景，而非演示性玩具应用。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POSITIONING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现状分析与差异化定位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0906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54480"/>
            <a:ext cx="34518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现有同类产品的不足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34518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Forest / 番茄ToDo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专做专注，任务体系弱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743200"/>
            <a:ext cx="34518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Todoist / 滴答清单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专做清单，专注与复盘弱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3520440"/>
            <a:ext cx="34518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共性问题
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强依赖云端、离线能力弱；很少把「任务—专注—复盘」打通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732020" y="1371600"/>
            <a:ext cx="3909060" cy="306324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960620" y="1554480"/>
            <a:ext cx="34518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知序的差异化定位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960620" y="2011680"/>
            <a:ext cx="310896" cy="31089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1453" y="2092513"/>
            <a:ext cx="149230" cy="14923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5353812" y="1975104"/>
            <a:ext cx="30861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本地优先（Local-first）：离线完全可用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60620" y="2578608"/>
            <a:ext cx="310896" cy="31089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1453" y="2659441"/>
            <a:ext cx="149230" cy="14923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353812" y="2542032"/>
            <a:ext cx="30861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可云同步：登录后多端数据一致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4960620" y="3145536"/>
            <a:ext cx="310896" cy="31089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1453" y="3226369"/>
            <a:ext cx="149230" cy="14923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53812" y="3108960"/>
            <a:ext cx="30861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专注 / 白噪音 / 复盘 一体化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960620" y="3712464"/>
            <a:ext cx="310896" cy="31089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1453" y="3793297"/>
            <a:ext cx="149230" cy="14923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53812" y="3675888"/>
            <a:ext cx="30861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原生鸿蒙完整闭环，工作量实打实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技术选型与理由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8138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64208"/>
            <a:ext cx="420624" cy="420624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882" y="1773570"/>
            <a:ext cx="201900" cy="2019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25880" y="156362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325880" y="180136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HarmonyOS / ArkTS + ArkUI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715000" y="1600200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0" y="155448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课程要求原生鸿蒙；声明式 UI + 状态管理开发高效，系统能力原生集成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441448"/>
            <a:ext cx="8138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688336"/>
            <a:ext cx="420624" cy="420624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882" y="2797698"/>
            <a:ext cx="201900" cy="2019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5877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325880" y="282549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3.2 + MyBatis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715000" y="2624328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5943600" y="2578608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生态最成熟，REST 接口快；MyBatis 让同步 SQL 可控、易优化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02920" y="3465576"/>
            <a:ext cx="8138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731520" y="3712464"/>
            <a:ext cx="420624" cy="420624"/>
          </a:xfrm>
          <a:prstGeom prst="ellipse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882" y="3821826"/>
            <a:ext cx="201900" cy="2019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325880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endParaRPr lang="en-US" sz="1100" dirty="0"/>
          </a:p>
        </p:txBody>
      </p:sp>
      <p:sp>
        <p:nvSpPr>
          <p:cNvPr id="23" name="Text 18"/>
          <p:cNvSpPr/>
          <p:nvPr/>
        </p:nvSpPr>
        <p:spPr>
          <a:xfrm>
            <a:off x="1325880" y="3849624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端侧 RDB + Preferences；云端 MySQL / H2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715000" y="3648456"/>
            <a:ext cx="0" cy="54864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943600" y="3602736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业务数据进 RDB（SQLite/事务），配置进 Preferences；H2 一键演示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27" name="Text 22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系统总体架构：移动端本地优先 + 后端同步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233172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2139696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HarmonyOS App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25146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ArkTS / ArkUI · MVVM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92240" y="2011680"/>
            <a:ext cx="233172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01968" y="2139696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后端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601968" y="25146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controller / service / mapper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2331720" cy="777240"/>
          </a:xfrm>
          <a:prstGeom prst="rect">
            <a:avLst/>
          </a:prstGeom>
          <a:solidFill>
            <a:srgbClr val="0B3B36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9808" y="3511296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端侧 RDB / Preferences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49808" y="38862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SQLite · 本地权威数据源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92240" y="3383280"/>
            <a:ext cx="2331720" cy="777240"/>
          </a:xfrm>
          <a:prstGeom prst="rect">
            <a:avLst/>
          </a:prstGeom>
          <a:solidFill>
            <a:srgbClr val="3B2E0B"/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01968" y="3511296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MySQL / H2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601968" y="3886200"/>
            <a:ext cx="2112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MyBatis Mapper 持久化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805940" y="2926080"/>
            <a:ext cx="0" cy="457200"/>
          </a:xfrm>
          <a:prstGeom prst="line">
            <a:avLst/>
          </a:prstGeom>
          <a:noFill/>
          <a:ln w="25400">
            <a:solidFill>
              <a:srgbClr val="14B8A6"/>
            </a:solidFill>
            <a:prstDash val="solid"/>
            <a:headEnd type="triangl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85166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本地读写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658100" y="2926080"/>
            <a:ext cx="0" cy="457200"/>
          </a:xfrm>
          <a:prstGeom prst="line">
            <a:avLst/>
          </a:prstGeom>
          <a:noFill/>
          <a:ln w="2540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971800" y="2468880"/>
            <a:ext cx="3520440" cy="0"/>
          </a:xfrm>
          <a:prstGeom prst="line">
            <a:avLst/>
          </a:prstGeom>
          <a:noFill/>
          <a:ln w="317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2971800" y="208483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 双向同步 · JWT 鉴权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971800" y="2578608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pull 拉取 → 合并 → push 推送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02920" y="44348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本地优先：</a:t>
            </a:r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所有操作先写端侧数据库，离线可用；登录后再通过 HTTP 与后端做双向同步，两端用 updatedAt 保留较新版本。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DESIGN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 MVVM 分层设计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81381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417320"/>
            <a:ext cx="91440" cy="6035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417320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View 视图层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14173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pages/ · components/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1463040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界面展示与交互，今日/任务/专注/复盘等页面拆成可复用组件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2130552"/>
            <a:ext cx="81381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02920" y="2130552"/>
            <a:ext cx="91440" cy="60350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13055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ViewModel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51760" y="2130552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services/FocusStore.ets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212080" y="217627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集中编排业务状态，状态装饰器驱动 UI 自动刷新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843784"/>
            <a:ext cx="81381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2843784"/>
            <a:ext cx="91440" cy="6035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84378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 模型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651760" y="2843784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models/FocusModels.ets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212080" y="28895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数据结构与枚举（TaskStatus 等）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3602736"/>
            <a:ext cx="3909060" cy="777240"/>
          </a:xfrm>
          <a:prstGeom prst="rect">
            <a:avLst/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3712464"/>
            <a:ext cx="3543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本地数据 · FocusDatabase.ets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4014216"/>
            <a:ext cx="3543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RDB 建表 / 迁移 / upsert / ResultSet 释放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32020" y="3602736"/>
            <a:ext cx="3909060" cy="777240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14900" y="3712464"/>
            <a:ext cx="3543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远程同步 · FocusSyncService.ets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14900" y="4014216"/>
            <a:ext cx="3543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pull / push / 合并 / 幂等 / 字段兼容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02920" y="4471416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界面只负责展示与交互 → 状态集中在 Store → 数据来源下沉到 services，职责清晰、解耦、好维护。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FEATURES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六大功能模块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499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618488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37360"/>
            <a:ext cx="219456" cy="2194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4088" y="213055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任务管理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04088" y="2386584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多行快速添加 · 截止时间 · 图片识别转任务 · 项目归类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22320" y="1417320"/>
            <a:ext cx="2499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523488" y="1618488"/>
            <a:ext cx="457200" cy="45720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2360" y="1737360"/>
            <a:ext cx="219456" cy="2194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3488" y="213055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番茄钟专注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523488" y="2386584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时间戳驱动计时，把任务转化为真实专注时长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141720" y="1417320"/>
            <a:ext cx="2499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342888" y="1618488"/>
            <a:ext cx="457200" cy="457200"/>
          </a:xfrm>
          <a:prstGeom prst="ellipse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760" y="1737360"/>
            <a:ext cx="219456" cy="2194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42888" y="213055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白噪音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342888" y="2386584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室外 / 海边 / 虫鸣，AVPlayer 播放 rawfile 音频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02920" y="2971800"/>
            <a:ext cx="2499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04088" y="3172968"/>
            <a:ext cx="457200" cy="457200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291840"/>
            <a:ext cx="219456" cy="2194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04088" y="368503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复盘统计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704088" y="3941064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本周专注时长、项目占比、完成率等图表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3322320" y="2971800"/>
            <a:ext cx="2499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523488" y="3172968"/>
            <a:ext cx="457200" cy="457200"/>
          </a:xfrm>
          <a:prstGeom prst="ellipse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2360" y="3291840"/>
            <a:ext cx="219456" cy="21945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523488" y="368503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资料库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3523488" y="3941064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含 AI 摘要状态与复习到期时间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6141720" y="2971800"/>
            <a:ext cx="24993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342888" y="3172968"/>
            <a:ext cx="457200" cy="4572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1760" y="3291840"/>
            <a:ext cx="219456" cy="219456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342888" y="3685032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云同步</a:t>
            </a:r>
            <a:endParaRPr lang="en-US" sz="1500" dirty="0"/>
          </a:p>
        </p:txBody>
      </p:sp>
      <p:sp>
        <p:nvSpPr>
          <p:cNvPr id="34" name="Text 26"/>
          <p:cNvSpPr/>
          <p:nvPr/>
        </p:nvSpPr>
        <p:spPr>
          <a:xfrm>
            <a:off x="6342888" y="3941064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登录后双向同步，多端数据一致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核心界面演示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298448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模拟器实拍：未来任务数据、任务快速添加、AI 图片识别候选确认与复盘统计。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691640"/>
            <a:ext cx="1794510" cy="2651760"/>
          </a:xfrm>
          <a:prstGeom prst="rect">
            <a:avLst/>
          </a:prstGeom>
          <a:solidFill>
            <a:srgbClr val="EEF2F7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1144143" y="2560320"/>
            <a:ext cx="1" cy="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???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8004" y="1691640"/>
            <a:ext cx="1204341" cy="2651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4362450"/>
            <a:ext cx="1794510" cy="1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今日概览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02920" y="4554480"/>
            <a:ext cx="1794510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答辩演示任务 · 日期不过期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617470" y="1691640"/>
            <a:ext cx="1794510" cy="2651760"/>
          </a:xfrm>
          <a:prstGeom prst="rect">
            <a:avLst/>
          </a:prstGeom>
          <a:solidFill>
            <a:srgbClr val="EEF2F7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2" name="Shape 9"/>
          <p:cNvSpPr/>
          <p:nvPr/>
        </p:nvSpPr>
        <p:spPr>
          <a:xfrm>
            <a:off x="3258693" y="2560320"/>
            <a:ext cx="1" cy="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" name="Image 1" descr="??????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2554" y="1691640"/>
            <a:ext cx="1204341" cy="2651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17470" y="4362450"/>
            <a:ext cx="1794510" cy="1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任务快速添加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617470" y="4554480"/>
            <a:ext cx="1794510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多行输入 · 截止时间 · 项目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732020" y="1691640"/>
            <a:ext cx="1794510" cy="2651760"/>
          </a:xfrm>
          <a:prstGeom prst="rect">
            <a:avLst/>
          </a:prstGeom>
          <a:solidFill>
            <a:srgbClr val="EEF2F7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17" name="Shape 13"/>
          <p:cNvSpPr/>
          <p:nvPr/>
        </p:nvSpPr>
        <p:spPr>
          <a:xfrm>
            <a:off x="5373243" y="2560320"/>
            <a:ext cx="1" cy="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8" name="Image 2" descr="???????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7104" y="1691640"/>
            <a:ext cx="1204341" cy="2651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732020" y="4362450"/>
            <a:ext cx="1794510" cy="1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图片识别转任务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4732020" y="4554480"/>
            <a:ext cx="1794510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OCR + mimo-v2.5 候选确认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6846570" y="1691640"/>
            <a:ext cx="1794510" cy="2651760"/>
          </a:xfrm>
          <a:prstGeom prst="rect">
            <a:avLst/>
          </a:prstGeom>
          <a:solidFill>
            <a:srgbClr val="EEF2F7"/>
          </a:solidFill>
          <a:ln w="15875">
            <a:solidFill>
              <a:srgbClr val="94A3B8"/>
            </a:solidFill>
            <a:prstDash val="dash"/>
          </a:ln>
        </p:spPr>
      </p:sp>
      <p:sp>
        <p:nvSpPr>
          <p:cNvPr id="22" name="Shape 17"/>
          <p:cNvSpPr/>
          <p:nvPr/>
        </p:nvSpPr>
        <p:spPr>
          <a:xfrm>
            <a:off x="7487793" y="2560320"/>
            <a:ext cx="1" cy="1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3" name="Image 3" descr="????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1654" y="1691640"/>
            <a:ext cx="1204341" cy="265176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846570" y="4362450"/>
            <a:ext cx="1794510" cy="1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复盘统计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6846570" y="4554480"/>
            <a:ext cx="1794510" cy="19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专注时长 · 项目占比 · 完成率</a:t>
            </a:r>
            <a:endParaRPr lang="en-US" sz="950" dirty="0"/>
          </a:p>
        </p:txBody>
      </p:sp>
      <p:sp>
        <p:nvSpPr>
          <p:cNvPr id="26" name="Text 20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DATABASE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数据库设计（端侧 RDB / 云端对应）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17320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206240"/>
                <a:gridCol w="23774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关键字段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projects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id, name, color, icon, updated_at, is_deleted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项目，带冲突时间戳与删除墓碑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tasks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id, title, project_id, priority, due_at, status, updated_at, is_deleted, client_request_id, tags_json 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任务主表；status 0待办/1完成/2删除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pomodoros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id, task_id, start_at, duration, completed, updated_at, client_request_id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番茄记录，关联任务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study_resources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id, title, source_type, content, summary_status, review_due_at 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资料库（端侧），含 AI 摘要状态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users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id, username, password(hash), nickname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F17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后端用户表，登录鉴别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02920" y="45720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设计要点：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 / 番茄表带 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updated_at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（冲突裁决）、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client_request_id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（幂等）、</a:t>
            </a:r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is_deleted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（墓碑删除）。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HIGHLIGHT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技术亮点①　云同步一致性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多端同步最怕「重复插入」和「旧数据覆盖新数据」——三招解决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24993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59992" y="1965960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2148" y="2118116"/>
            <a:ext cx="280904" cy="28090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65176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幂等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3017520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clientRequestId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85800" y="3310128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每条记录带稳定 ID，服务端按它 upsert，重复推送只更新不新增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322320" y="1737360"/>
            <a:ext cx="24993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279392" y="1965960"/>
            <a:ext cx="585216" cy="585216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548" y="2118116"/>
            <a:ext cx="280904" cy="28090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322320" y="265176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冲突裁决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3459480" y="3017520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Last-Write-Wins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3505200" y="3310128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两端比较 updatedAt，时间晚的覆盖早的，旧副本盖不掉新修改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6141720" y="1737360"/>
            <a:ext cx="249936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098792" y="1965960"/>
            <a:ext cx="585216" cy="585216"/>
          </a:xfrm>
          <a:prstGeom prst="ellipse">
            <a:avLst/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0948" y="2118116"/>
            <a:ext cx="280904" cy="28090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141720" y="2651760"/>
            <a:ext cx="249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删除墓碑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6278880" y="3017520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isDeleted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6324600" y="3310128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删除不物理删而是打标记，继续参与同步，保证跨端生效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02920" y="411480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同步流程：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pull 拉取并合并服务端更新 → 再 push 本地变更 → 更新 lastSyncTime（先拉后推）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HIGHLIGHT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技术亮点②　番茄钟时间戳驱动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463040"/>
            <a:ext cx="3909060" cy="2743200"/>
          </a:xfrm>
          <a:prstGeom prst="rect">
            <a:avLst/>
          </a:prstGeom>
          <a:solidFill>
            <a:srgbClr val="FEE2E2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645920"/>
            <a:ext cx="34518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262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朴素做法的问题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34518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用「定时器每秒减 1」来计时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 切后台 / 被系统挂起后，定时器被暂停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回到前台时，计时严重不准、漂移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32020" y="1463040"/>
            <a:ext cx="3909060" cy="27432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60620" y="1645920"/>
            <a:ext cx="411480" cy="411480"/>
          </a:xfrm>
          <a:prstGeom prst="ellipse">
            <a:avLst/>
          </a:prstGeom>
          <a:solidFill>
            <a:srgbClr val="0B3B36"/>
          </a:solidFill>
          <a:ln w="12700">
            <a:solidFill>
              <a:srgbClr val="0B3B36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67605" y="1752905"/>
            <a:ext cx="197510" cy="19751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509260" y="1691640"/>
            <a:ext cx="29032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时间戳驱动方案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960620" y="2240280"/>
            <a:ext cx="34518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开始/恢复时记录时间戳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每次刷新用 Date.now() 现算已过 / 剩余时间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定时器只负责「触发刷新」，不是唯一计时源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startAt = Date.now() − duration×1000 反推开始时刻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60620" y="3794760"/>
            <a:ext cx="34518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效果：即使切到后台再回来，时间依然准确。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HIGHLIGHT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技术亮点③　TaskPool 后台并发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复盘统计在番茄记录多时计算量大，放主线程会卡 UI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623060" cy="1371600"/>
          </a:xfrm>
          <a:prstGeom prst="rect">
            <a:avLst/>
          </a:prstGeom>
          <a:solidFill>
            <a:srgbClr val="DBEA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2057400"/>
            <a:ext cx="1440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2651760"/>
            <a:ext cx="1440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负责绘制 + 事件分发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235708" y="233172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1296" y="2417308"/>
            <a:ext cx="158008" cy="15800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674620" y="1828800"/>
            <a:ext cx="1623060" cy="1371600"/>
          </a:xfrm>
          <a:prstGeom prst="rect">
            <a:avLst/>
          </a:prstGeom>
          <a:solidFill>
            <a:srgbClr val="FEF3C7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766060" y="2057400"/>
            <a:ext cx="1440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@Concurrent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TaskPool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766060" y="2651760"/>
            <a:ext cx="1440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后台线程池预计算统计快照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407408" y="233172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2996" y="2417308"/>
            <a:ext cx="158008" cy="15800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4846320" y="1828800"/>
            <a:ext cx="1623060" cy="1371600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4937760" y="2057400"/>
            <a:ext cx="1440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ReviewStats 快照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937760" y="2651760"/>
            <a:ext cx="1440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周时长 / 项目占比 / streak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579108" y="233172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4696" y="2417308"/>
            <a:ext cx="158008" cy="158008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018020" y="1828800"/>
            <a:ext cx="1623060" cy="1371600"/>
          </a:xfrm>
          <a:prstGeom prst="rect">
            <a:avLst/>
          </a:prstGeom>
          <a:solidFill>
            <a:srgbClr val="EDE9FE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7109460" y="2057400"/>
            <a:ext cx="1440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 刷新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7109460" y="2651760"/>
            <a:ext cx="1440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主线程只读快照渲染</a:t>
            </a:r>
            <a:endParaRPr lang="en-US" sz="950" dirty="0"/>
          </a:p>
        </p:txBody>
      </p:sp>
      <p:sp>
        <p:nvSpPr>
          <p:cNvPr id="24" name="Text 19"/>
          <p:cNvSpPr/>
          <p:nvPr/>
        </p:nvSpPr>
        <p:spPr>
          <a:xfrm>
            <a:off x="502920" y="365760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两个关键约束：</a:t>
            </a:r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@Concurrent 函数必须是顶层独立函数（worker 线程内存隔离）；② 参数用 .slice() 传副本，避免跨线程共享可变状态。TaskPool 不可用时回退主线程同步计算兜底。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HIGHLIGHT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技术亮点④　JWT 接口鉴权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0906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572768"/>
            <a:ext cx="3451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签发与校验流程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965960"/>
            <a:ext cx="34975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 登录/注册成功 → JwtService 签发 JWT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 HS256 签名，payload 带 sub / username / iat / exp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 业务接口带 Authorization: Bearer &lt;token&gt;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 AuthInterceptor 拦截 /api/**（放行 login/register/ping）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 重算签名 + 常量时间比较防时序攻击 + 校验 exp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 通过后从 token 取用户身份，业务用 AuthUser.id()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32020" y="1417320"/>
            <a:ext cx="3909060" cy="28803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60620" y="1600200"/>
            <a:ext cx="457200" cy="45720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9492" y="17190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554980" y="1664208"/>
            <a:ext cx="29032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为什么是亮点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960620" y="2377440"/>
            <a:ext cx="34518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服务端不再信任客户端自报的 X-User-Id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别人拿不到你的 token，就动不了你的数据，堵住越权读写漏洞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密钥与有效期（默认 7 天）配在 application.yml 的 focus.jwt.*；校验失败直接返回 401。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 FLOW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一次「添加任务并同步」的数据流向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554480"/>
            <a:ext cx="2499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67512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25880" y="1719072"/>
            <a:ext cx="153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界面点击添加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2121408"/>
            <a:ext cx="153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QuickAddTaskCard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029712" y="197967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5790" y="2055754"/>
            <a:ext cx="140452" cy="14045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22320" y="1554480"/>
            <a:ext cx="2499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486912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145280" y="1719072"/>
            <a:ext cx="153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Store 组装任务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145280" y="2121408"/>
            <a:ext cx="153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FocusStore.addTask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49112" y="197967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5190" y="2055754"/>
            <a:ext cx="140452" cy="140452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141720" y="1554480"/>
            <a:ext cx="2499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6306312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6964680" y="1719072"/>
            <a:ext cx="153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写入端侧 RDB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964680" y="2121408"/>
            <a:ext cx="153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insert → 回写 client_request_id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502920" y="3063240"/>
            <a:ext cx="2499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67512" y="3200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1325880" y="3227832"/>
            <a:ext cx="153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刷新界面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1325880" y="3630168"/>
            <a:ext cx="153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Store.refresh → @State 自动刷新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029712" y="348843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5790" y="3564514"/>
            <a:ext cx="140452" cy="140452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3322320" y="3063240"/>
            <a:ext cx="2499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3486912" y="3200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</a:t>
            </a:r>
            <a:endParaRPr lang="en-US" sz="2600" dirty="0"/>
          </a:p>
        </p:txBody>
      </p:sp>
      <p:sp>
        <p:nvSpPr>
          <p:cNvPr id="29" name="Text 24"/>
          <p:cNvSpPr/>
          <p:nvPr/>
        </p:nvSpPr>
        <p:spPr>
          <a:xfrm>
            <a:off x="4145280" y="3227832"/>
            <a:ext cx="153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双向同步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4145280" y="3630168"/>
            <a:ext cx="153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先 pull 合并 → 再 push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5849112" y="3488436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5190" y="3564514"/>
            <a:ext cx="140452" cy="14045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6141720" y="3063240"/>
            <a:ext cx="249936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34" name="Text 28"/>
          <p:cNvSpPr/>
          <p:nvPr/>
        </p:nvSpPr>
        <p:spPr>
          <a:xfrm>
            <a:off x="6306312" y="3200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</a:t>
            </a:r>
            <a:endParaRPr lang="en-US" sz="2600" dirty="0"/>
          </a:p>
        </p:txBody>
      </p:sp>
      <p:sp>
        <p:nvSpPr>
          <p:cNvPr id="35" name="Text 29"/>
          <p:cNvSpPr/>
          <p:nvPr/>
        </p:nvSpPr>
        <p:spPr>
          <a:xfrm>
            <a:off x="6964680" y="3227832"/>
            <a:ext cx="153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 upsert</a:t>
            </a:r>
            <a:endParaRPr lang="en-US" sz="1400" dirty="0"/>
          </a:p>
        </p:txBody>
      </p:sp>
      <p:sp>
        <p:nvSpPr>
          <p:cNvPr id="36" name="Text 30"/>
          <p:cNvSpPr/>
          <p:nvPr/>
        </p:nvSpPr>
        <p:spPr>
          <a:xfrm>
            <a:off x="6964680" y="3630168"/>
            <a:ext cx="153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SyncController 按 cReqId 落库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502920" y="4434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链路即「界面 → Store → 本地库 →（同步）→ 后端 → 数据库」，本地优先保证离线可用。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COURSE MAPPING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课程知识点 × 知序落地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490472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7870" y="1566550"/>
            <a:ext cx="140452" cy="1404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1371600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HAP / 容器层级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 HAP，Application→AbilityStage→UIAbility→WindowStage→Page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32020" y="1371600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850892" y="1490472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970" y="1566550"/>
            <a:ext cx="140452" cy="14045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34940" y="1371600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UIAbility / singleton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EntryAbility 主入口 + FocusAbility 单例专注窗 + 桌面卡片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02920" y="2002536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" y="2121408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870" y="2197486"/>
            <a:ext cx="140452" cy="14045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05840" y="2002536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Navigation + NavPathStack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二级页（资料库/复盘/同步/设置）页面栈跳转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4732020" y="2002536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850892" y="2121408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6970" y="2197486"/>
            <a:ext cx="140452" cy="14045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234940" y="2002536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 · POST 非幂等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clientRequestId + 服务端 upsert 解决重复提交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502920" y="2633472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21792" y="2752344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870" y="2828422"/>
            <a:ext cx="140452" cy="14045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05840" y="2633472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RDB 三大组件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RdbStore / Predicates / ResultSet（finally 释放）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4732020" y="2633472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850892" y="2752344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26970" y="2828422"/>
            <a:ext cx="140452" cy="14045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234940" y="2633472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Preferences KV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baseUrl / userId / lastSyncTime，单例封装避免频繁 flush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502920" y="3264408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621792" y="3383280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7870" y="3459358"/>
            <a:ext cx="140452" cy="14045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1005840" y="3264408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TaskPool @Concurrent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复盘统计后台预计算</a:t>
            </a:r>
            <a:endParaRPr lang="en-US" sz="1050" dirty="0"/>
          </a:p>
        </p:txBody>
      </p:sp>
      <p:sp>
        <p:nvSpPr>
          <p:cNvPr id="33" name="Shape 24"/>
          <p:cNvSpPr/>
          <p:nvPr/>
        </p:nvSpPr>
        <p:spPr>
          <a:xfrm>
            <a:off x="4732020" y="3264408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4850892" y="3383280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6970" y="3459358"/>
            <a:ext cx="140452" cy="14045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5234940" y="3264408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ArkWeb 混合开发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复盘图表加载 rawfile 本地 H5/Canvas</a:t>
            </a:r>
            <a:endParaRPr lang="en-US" sz="1050" dirty="0"/>
          </a:p>
        </p:txBody>
      </p:sp>
      <p:sp>
        <p:nvSpPr>
          <p:cNvPr id="37" name="Shape 27"/>
          <p:cNvSpPr/>
          <p:nvPr/>
        </p:nvSpPr>
        <p:spPr>
          <a:xfrm>
            <a:off x="502920" y="3895344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38" name="Shape 28"/>
          <p:cNvSpPr/>
          <p:nvPr/>
        </p:nvSpPr>
        <p:spPr>
          <a:xfrm>
            <a:off x="621792" y="4014216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7870" y="4090294"/>
            <a:ext cx="140452" cy="140452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1005840" y="3895344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Spring Boot + MyBatis + Maven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focus-server / TaskMapper.xml / pom.xml</a:t>
            </a:r>
            <a:endParaRPr lang="en-US" sz="1050" dirty="0"/>
          </a:p>
        </p:txBody>
      </p:sp>
      <p:sp>
        <p:nvSpPr>
          <p:cNvPr id="41" name="Shape 30"/>
          <p:cNvSpPr/>
          <p:nvPr/>
        </p:nvSpPr>
        <p:spPr>
          <a:xfrm>
            <a:off x="4732020" y="3895344"/>
            <a:ext cx="39090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42" name="Shape 31"/>
          <p:cNvSpPr/>
          <p:nvPr/>
        </p:nvSpPr>
        <p:spPr>
          <a:xfrm>
            <a:off x="4850892" y="4014216"/>
            <a:ext cx="292608" cy="292608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26970" y="4090294"/>
            <a:ext cx="140452" cy="140452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5234940" y="3895344"/>
            <a:ext cx="32689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Lombok 构造注解  </a:t>
            </a:r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@NoArgsConstructor / @AllArgsConstructor</a:t>
            </a:r>
            <a:endParaRPr lang="en-US" sz="1050" dirty="0"/>
          </a:p>
        </p:txBody>
      </p:sp>
      <p:sp>
        <p:nvSpPr>
          <p:cNvPr id="45" name="Text 33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46" name="Text 34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14630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0664" y="32918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603504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0906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4088" y="1600200"/>
            <a:ext cx="402336" cy="402336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695" y="1704807"/>
            <a:ext cx="193121" cy="19312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645920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已完成工作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2148840"/>
            <a:ext cx="34518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原生鸿蒙专注 App，覆盖任务/番茄/白噪音/资料/复盘五大模块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MVVM 分层 + 最新 Navigation 路由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端侧 RDB + Preferences 本地优先存储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自建 Spring Boot + MyBatis 后端，双向云同步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一致性 / 计时准确性 / 安全性 / 性能 四方面针对性设计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732020" y="1417320"/>
            <a:ext cx="3909060" cy="288036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63500" dist="2286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933188" y="1600200"/>
            <a:ext cx="402336" cy="402336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795" y="1704807"/>
            <a:ext cx="193121" cy="19312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463540" y="1645920"/>
            <a:ext cx="2994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未来展望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960620" y="2148840"/>
            <a:ext cx="34518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同步优化：全量 push → 按 updatedAt 的增量上传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冲突策略：LWW → 字段级合并 / 版本向量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功能扩展：多端实时同步、AI 学习教练</a:t>
            </a:r>
            <a:endParaRPr lang="en-US" sz="11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E2E8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鉴权增强：refresh token、token 吊销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02920" y="47731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· 答辩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7726680" y="47731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822960" cy="822960"/>
          </a:xfrm>
          <a:prstGeom prst="rect">
            <a:avLst/>
          </a:prstGeom>
          <a:solidFill>
            <a:srgbClr val="14B8A6">
              <a:alpha val="40000"/>
            </a:srgbClr>
          </a:solidFill>
          <a:ln w="1270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03920" y="4206240"/>
            <a:ext cx="640080" cy="640080"/>
          </a:xfrm>
          <a:prstGeom prst="rect">
            <a:avLst/>
          </a:prstGeom>
          <a:solidFill>
            <a:srgbClr val="F59E0B">
              <a:alpha val="35000"/>
            </a:srgbClr>
          </a:solidFill>
          <a:ln w="12700">
            <a:solidFill>
              <a:srgbClr val="F59E0B">
                <a:alpha val="35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0" y="1828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感谢各位老师的聆听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0" y="2743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B8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恳请老师批评指正　·　请提问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0" y="3383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知序 ZhiXu　·　本地优先 · 可云同步的鸿蒙专注效率应用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知序 · HarmonyOS 专注效率应用 答辩</dc:title>
  <dc:subject>PptxGenJS Presentation</dc:subject>
  <dc:creator>k yc</dc:creator>
  <cp:lastModifiedBy>k yc</cp:lastModifiedBy>
  <cp:revision>1</cp:revision>
  <dcterms:created xsi:type="dcterms:W3CDTF">2026-06-04T13:36:05Z</dcterms:created>
  <dcterms:modified xsi:type="dcterms:W3CDTF">2026-06-04T13:36:05Z</dcterms:modified>
</cp:coreProperties>
</file>